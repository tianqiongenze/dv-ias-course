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</p:sldIdLst>
  <p:sldSz cx="12188952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1F3A5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2011680"/>
            <a:ext cx="10698480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3400" b="1">
                <a:solidFill>
                  <a:srgbClr val="FFFFFF"/>
                </a:solidFill>
              </a:rPr>
              <a:t>监控可观测（企业导师日）</a:t>
            </a:r>
          </a:p>
          <a:p>
            <a:r>
              <a:rPr sz="1600">
                <a:solidFill>
                  <a:srgbClr val="BED2E8"/>
                </a:solidFill>
              </a:rPr>
              <a:t>数字乡村综合服务平台项目实战 ｜ L13 ｜ L5 部署运维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914400"/>
          </a:xfrm>
          <a:prstGeom prst="rect">
            <a:avLst/>
          </a:prstGeom>
          <a:solidFill>
            <a:srgbClr val="1F3A5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2000" b="1">
                <a:solidFill>
                  <a:srgbClr val="FFFFFF"/>
                </a:solidFill>
              </a:rPr>
              <a:t>学习目标（布鲁姆分层）</a:t>
            </a:r>
          </a:p>
          <a:p>
            <a:r>
              <a:rPr sz="1100">
                <a:solidFill>
                  <a:srgbClr val="BED2E8"/>
                </a:solidFill>
              </a:rPr>
              <a:t>L13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1188720"/>
            <a:ext cx="1106424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/>
          <a:p>
            <a:r>
              <a:rPr sz="1800" b="1">
                <a:solidFill>
                  <a:srgbClr val="0E7C7B"/>
                </a:solidFill>
              </a:rPr>
              <a:t>◆ 素质目标</a:t>
            </a:r>
          </a:p>
          <a:p>
            <a:pPr>
              <a:spcAft>
                <a:spcPts val="1000"/>
              </a:spcAft>
            </a:pPr>
            <a:r>
              <a:rPr sz="1500">
                <a:solidFill>
                  <a:srgbClr val="444444"/>
                </a:solidFill>
              </a:rPr>
              <a:t>能力：接入 Prometheus 并自建看板（应用层）</a:t>
            </a:r>
          </a:p>
          <a:p>
            <a:r>
              <a:rPr sz="1800" b="1">
                <a:solidFill>
                  <a:srgbClr val="0E7C7B"/>
                </a:solidFill>
              </a:rPr>
              <a:t>◆ 知识目标（记忆/理解）</a:t>
            </a:r>
          </a:p>
          <a:p>
            <a:pPr>
              <a:spcAft>
                <a:spcPts val="1000"/>
              </a:spcAft>
            </a:pPr>
            <a:r>
              <a:rPr sz="1500">
                <a:solidFill>
                  <a:srgbClr val="444444"/>
                </a:solidFill>
              </a:rPr>
              <a:t>知识：四个黄金信号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914400"/>
          </a:xfrm>
          <a:prstGeom prst="rect">
            <a:avLst/>
          </a:prstGeom>
          <a:solidFill>
            <a:srgbClr val="1F3A5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2000" b="1">
                <a:solidFill>
                  <a:srgbClr val="FFFFFF"/>
                </a:solidFill>
              </a:rPr>
              <a:t>情境导入（资讯）</a:t>
            </a:r>
          </a:p>
          <a:p>
            <a:r>
              <a:rPr sz="1100">
                <a:solidFill>
                  <a:srgbClr val="BED2E8"/>
                </a:solidFill>
              </a:rPr>
              <a:t>德国双元制 · 完整行动</a:t>
            </a:r>
          </a:p>
        </p:txBody>
      </p:sp>
      <p:sp>
        <p:nvSpPr>
          <p:cNvPr id="3" name="Rectangle 2"/>
          <p:cNvSpPr/>
          <p:nvPr/>
        </p:nvSpPr>
        <p:spPr>
          <a:xfrm>
            <a:off x="548640" y="1371600"/>
            <a:ext cx="11064240" cy="1463040"/>
          </a:xfrm>
          <a:prstGeom prst="rect">
            <a:avLst/>
          </a:prstGeom>
          <a:solidFill>
            <a:srgbClr val="F4F6F8"/>
          </a:solidFill>
          <a:ln>
            <a:solidFill>
              <a:srgbClr val="0E7C7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700" i="1">
                <a:solidFill>
                  <a:srgbClr val="1F3A5F"/>
                </a:solidFill>
              </a:rPr>
              <a:t>情境：没有监控的服务=盲飞；今天给农资服务装上仪表盘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3108960"/>
            <a:ext cx="11064240" cy="5120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200" b="1">
                <a:solidFill>
                  <a:srgbClr val="1F3A5F"/>
                </a:solidFill>
              </a:rPr>
              <a:t>本课任务</a:t>
            </a:r>
          </a:p>
          <a:p>
            <a:pPr>
              <a:spcAft>
                <a:spcPts val="800"/>
              </a:spcAft>
            </a:pPr>
            <a:r>
              <a:rPr sz="1700">
                <a:solidFill>
                  <a:srgbClr val="444444"/>
                </a:solidFill>
              </a:rPr>
              <a:t>• 阅读引导文，回答 3 个关键提问</a:t>
            </a:r>
          </a:p>
          <a:p>
            <a:pPr>
              <a:spcAft>
                <a:spcPts val="800"/>
              </a:spcAft>
            </a:pPr>
            <a:r>
              <a:rPr sz="1700">
                <a:solidFill>
                  <a:srgbClr val="444444"/>
                </a:solidFill>
              </a:rPr>
              <a:t>• 明确本次课要交付的工件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914400"/>
          </a:xfrm>
          <a:prstGeom prst="rect">
            <a:avLst/>
          </a:prstGeom>
          <a:solidFill>
            <a:srgbClr val="1F3A5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2000" b="1">
                <a:solidFill>
                  <a:srgbClr val="FFFFFF"/>
                </a:solidFill>
              </a:rPr>
              <a:t>知识要点</a:t>
            </a:r>
          </a:p>
          <a:p>
            <a:r>
              <a:rPr sz="1100">
                <a:solidFill>
                  <a:srgbClr val="BED2E8"/>
                </a:solidFill>
              </a:rPr>
              <a:t>讲给你听 · 讲给别人听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1188720"/>
            <a:ext cx="11064240" cy="5120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200" b="1">
                <a:solidFill>
                  <a:srgbClr val="1F3A5F"/>
                </a:solidFill>
              </a:rPr>
              <a:t>核心内容</a:t>
            </a:r>
          </a:p>
          <a:p>
            <a:pPr>
              <a:spcAft>
                <a:spcPts val="800"/>
              </a:spcAft>
            </a:pPr>
            <a:r>
              <a:rPr sz="1600">
                <a:solidFill>
                  <a:srgbClr val="444444"/>
                </a:solidFill>
              </a:rPr>
              <a:t>• 四个黄金信号：延迟/流量/错误/饱和度</a:t>
            </a:r>
          </a:p>
          <a:p>
            <a:pPr>
              <a:spcAft>
                <a:spcPts val="800"/>
              </a:spcAft>
            </a:pPr>
            <a:r>
              <a:rPr sz="1600">
                <a:solidFill>
                  <a:srgbClr val="444444"/>
                </a:solidFill>
              </a:rPr>
              <a:t>• Prometheus 抓取链：ServiceMonitor(label metrics=true)→/metrics→Grafana</a:t>
            </a:r>
          </a:p>
          <a:p>
            <a:pPr>
              <a:spcAft>
                <a:spcPts val="800"/>
              </a:spcAft>
            </a:pPr>
            <a:r>
              <a:rPr sz="1600">
                <a:solidFill>
                  <a:srgbClr val="444444"/>
                </a:solidFill>
              </a:rPr>
              <a:t>• 踩坑：JSONResponse 序列化 metrics 会转义引号→必须 Response 直出</a:t>
            </a:r>
          </a:p>
          <a:p>
            <a:pPr>
              <a:spcAft>
                <a:spcPts val="800"/>
              </a:spcAft>
            </a:pPr>
            <a:r>
              <a:rPr sz="1600">
                <a:solidFill>
                  <a:srgbClr val="444444"/>
                </a:solidFill>
              </a:rPr>
              <a:t>• DV-IAS 实测：7/7 targets UP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914400"/>
          </a:xfrm>
          <a:prstGeom prst="rect">
            <a:avLst/>
          </a:prstGeom>
          <a:solidFill>
            <a:srgbClr val="1F3A5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2000" b="1">
                <a:solidFill>
                  <a:srgbClr val="FFFFFF"/>
                </a:solidFill>
              </a:rPr>
              <a:t>动手实作（计划→决策→实施）</a:t>
            </a:r>
          </a:p>
          <a:p>
            <a:r>
              <a:rPr sz="1100">
                <a:solidFill>
                  <a:srgbClr val="BED2E8"/>
                </a:solidFill>
              </a:rPr>
              <a:t>产出即证明</a:t>
            </a:r>
          </a:p>
        </p:txBody>
      </p:sp>
      <p:sp>
        <p:nvSpPr>
          <p:cNvPr id="3" name="Rectangle 2"/>
          <p:cNvSpPr/>
          <p:nvPr/>
        </p:nvSpPr>
        <p:spPr>
          <a:xfrm>
            <a:off x="548640" y="1371600"/>
            <a:ext cx="11064240" cy="2011680"/>
          </a:xfrm>
          <a:prstGeom prst="rect">
            <a:avLst/>
          </a:prstGeom>
          <a:solidFill>
            <a:srgbClr val="FDF0E7"/>
          </a:solidFill>
          <a:ln>
            <a:solidFill>
              <a:srgbClr val="E86A3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900" b="1">
                <a:solidFill>
                  <a:srgbClr val="E86A33"/>
                </a:solidFill>
              </a:rPr>
              <a:t>★ 本次课工件：实作：农资服务 ServiceMonitor + 自建 Grafana 看板（至少2个面板）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3657600"/>
            <a:ext cx="11064240" cy="5120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200" b="1">
                <a:solidFill>
                  <a:srgbClr val="1F3A5F"/>
                </a:solidFill>
              </a:rPr>
              <a:t>实施要求</a:t>
            </a:r>
          </a:p>
          <a:p>
            <a:pPr>
              <a:spcAft>
                <a:spcPts val="800"/>
              </a:spcAft>
            </a:pPr>
            <a:r>
              <a:rPr sz="1700">
                <a:solidFill>
                  <a:srgbClr val="444444"/>
                </a:solidFill>
              </a:rPr>
              <a:t>• 六步法任务单同步填写（worksheets/L13）</a:t>
            </a:r>
          </a:p>
          <a:p>
            <a:pPr>
              <a:spcAft>
                <a:spcPts val="800"/>
              </a:spcAft>
            </a:pPr>
            <a:r>
              <a:rPr sz="1700">
                <a:solidFill>
                  <a:srgbClr val="444444"/>
                </a:solidFill>
              </a:rPr>
              <a:t>• 自检表全项通过才算完成</a:t>
            </a:r>
          </a:p>
          <a:p>
            <a:pPr>
              <a:spcAft>
                <a:spcPts val="800"/>
              </a:spcAft>
            </a:pPr>
            <a:r>
              <a:rPr sz="1700">
                <a:solidFill>
                  <a:srgbClr val="444444"/>
                </a:solidFill>
              </a:rPr>
              <a:t>• 同伴走查后签字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914400"/>
          </a:xfrm>
          <a:prstGeom prst="rect">
            <a:avLst/>
          </a:prstGeom>
          <a:solidFill>
            <a:srgbClr val="1F3A5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2000" b="1">
                <a:solidFill>
                  <a:srgbClr val="FFFFFF"/>
                </a:solidFill>
              </a:rPr>
              <a:t>费曼学习环节（15分钟）</a:t>
            </a:r>
          </a:p>
          <a:p>
            <a:r>
              <a:rPr sz="1100">
                <a:solidFill>
                  <a:srgbClr val="BED2E8"/>
                </a:solidFill>
              </a:rPr>
              <a:t>讲不清 = 没学会</a:t>
            </a:r>
          </a:p>
        </p:txBody>
      </p:sp>
      <p:sp>
        <p:nvSpPr>
          <p:cNvPr id="3" name="Rectangle 2"/>
          <p:cNvSpPr/>
          <p:nvPr/>
        </p:nvSpPr>
        <p:spPr>
          <a:xfrm>
            <a:off x="548640" y="1371600"/>
            <a:ext cx="11064240" cy="1371600"/>
          </a:xfrm>
          <a:prstGeom prst="rect">
            <a:avLst/>
          </a:prstGeom>
          <a:solidFill>
            <a:srgbClr val="E8F4F1"/>
          </a:solidFill>
          <a:ln>
            <a:solidFill>
              <a:srgbClr val="0E7C7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800" b="1">
                <a:solidFill>
                  <a:srgbClr val="0E7C7B"/>
                </a:solidFill>
              </a:rPr>
              <a:t>★ 费曼题：延迟/流量/错误/饱和度——在你们看板上分别对应哪块图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3017520"/>
            <a:ext cx="11064240" cy="5120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200" b="1">
                <a:solidFill>
                  <a:srgbClr val="1F3A5F"/>
                </a:solidFill>
              </a:rPr>
              <a:t>规程</a:t>
            </a:r>
          </a:p>
          <a:p>
            <a:pPr>
              <a:spcAft>
                <a:spcPts val="800"/>
              </a:spcAft>
            </a:pPr>
            <a:r>
              <a:rPr sz="1700">
                <a:solidFill>
                  <a:srgbClr val="444444"/>
                </a:solidFill>
              </a:rPr>
              <a:t>• 两人一组：讲3分钟→听众提1个'为什么'→填费曼卡</a:t>
            </a:r>
          </a:p>
          <a:p>
            <a:pPr>
              <a:spcAft>
                <a:spcPts val="800"/>
              </a:spcAft>
            </a:pPr>
            <a:r>
              <a:rPr sz="1700">
                <a:solidFill>
                  <a:srgbClr val="444444"/>
                </a:solidFill>
              </a:rPr>
              <a:t>• 卡点登记≥2次的概念：下节课开头重讲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914400"/>
          </a:xfrm>
          <a:prstGeom prst="rect">
            <a:avLst/>
          </a:prstGeom>
          <a:solidFill>
            <a:srgbClr val="1F3A5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2000" b="1">
                <a:solidFill>
                  <a:srgbClr val="FFFFFF"/>
                </a:solidFill>
              </a:rPr>
              <a:t>小结与检查</a:t>
            </a:r>
          </a:p>
          <a:p>
            <a:r>
              <a:rPr sz="1100">
                <a:solidFill>
                  <a:srgbClr val="BED2E8"/>
                </a:solidFill>
              </a:rPr>
              <a:t>检查(Evaluieren) → 评价(Bewerten)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1188720"/>
            <a:ext cx="11064240" cy="5120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200" b="1">
                <a:solidFill>
                  <a:srgbClr val="1F3A5F"/>
                </a:solidFill>
              </a:rPr>
              <a:t>本次课小结</a:t>
            </a:r>
          </a:p>
          <a:p>
            <a:pPr>
              <a:spcAft>
                <a:spcPts val="800"/>
              </a:spcAft>
            </a:pPr>
            <a:r>
              <a:rPr sz="1700">
                <a:solidFill>
                  <a:srgbClr val="444444"/>
                </a:solidFill>
              </a:rPr>
              <a:t>• 对照学习目标自检：知识讲得出 / 工件交得出</a:t>
            </a:r>
          </a:p>
          <a:p>
            <a:pPr>
              <a:spcAft>
                <a:spcPts val="800"/>
              </a:spcAft>
            </a:pPr>
            <a:r>
              <a:rPr sz="1700">
                <a:solidFill>
                  <a:srgbClr val="444444"/>
                </a:solidFill>
              </a:rPr>
              <a:t>• 任务单 + 费曼卡下课前提交（成长档案）</a:t>
            </a:r>
          </a:p>
          <a:p>
            <a:pPr>
              <a:spcAft>
                <a:spcPts val="800"/>
              </a:spcAft>
            </a:pPr>
            <a:r>
              <a:rPr sz="1700">
                <a:solidFill>
                  <a:srgbClr val="444444"/>
                </a:solidFill>
              </a:rPr>
              <a:t>• 下次课预告：见授课计划（docs/02）</a:t>
            </a:r>
          </a:p>
          <a:p>
            <a:pPr>
              <a:spcAft>
                <a:spcPts val="800"/>
              </a:spcAft>
            </a:pPr>
            <a:r>
              <a:rPr sz="1700">
                <a:solidFill>
                  <a:srgbClr val="444444"/>
                </a:solidFill>
              </a:rPr>
              <a:t>• 课程仓库：随项目更新自动同步（sync/）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